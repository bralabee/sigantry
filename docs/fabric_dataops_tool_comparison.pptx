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2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 type="wide"/>
  <p:notesSz cx="6858000" cy="9144000"/>
  <p:defaultTextStyle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/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Master" Target="slideMasters/slideMaster1.xml"/>
<Relationship Id="rId13" Type="http://schemas.openxmlformats.org/officeDocument/2006/relationships/theme" Target="theme/theme1.xml"/>
<Relationship Id="rId14" Type="http://schemas.openxmlformats.org/officeDocument/2006/relationships/presProps" Target="presProps.xml"/>
<Relationship Id="rId15" Type="http://schemas.openxmlformats.org/officeDocument/2006/relationships/viewProps" Target="viewProps.xml"/>
<Relationship Id="rId16" Type="http://schemas.openxmlformats.org/officeDocument/2006/relationships/tableStyles" Target="tableStyles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000" b="0">
                <a:solidFill>
                  <a:srgbClr val="1F2937"/>
                </a:solidFill>
              </a:rPr>
              <a:t/>
            </a:r>
            <a:endParaRPr lang="en-GB" sz="1000"/>
          </a:p>
        </p:txBody>
      </p:sp>
      <p:sp>
        <p:nvSpPr>
          <p:cNvPr id="3" name="Kicker"/>
          <p:cNvSpPr txBox="1"/>
          <p:nvPr/>
        </p:nvSpPr>
        <p:spPr>
          <a:xfrm>
            <a:off x="620000" y="160000"/>
            <a:ext cx="6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200" b="1">
                <a:solidFill>
                  <a:srgbClr val="93C5FD"/>
                </a:solidFill>
              </a:rPr>
              <a:t>SIGANTRY / FABRIC_DATAOPS</a:t>
            </a:r>
            <a:endParaRPr lang="en-GB" sz="1200"/>
          </a:p>
        </p:txBody>
      </p:sp>
      <p:sp>
        <p:nvSpPr>
          <p:cNvPr id="4" name="Title"/>
          <p:cNvSpPr txBox="1"/>
          <p:nvPr/>
        </p:nvSpPr>
        <p:spPr>
          <a:xfrm>
            <a:off x="610000" y="29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2600" b="1">
                <a:solidFill>
                  <a:srgbClr val="FFFFFF"/>
                </a:solidFill>
              </a:rPr>
              <a:t>Fabric DataOps Toolkit Comparison</a:t>
            </a:r>
            <a:endParaRPr lang="en-GB" sz="2600"/>
          </a:p>
        </p:txBody>
      </p:sp>
      <p:sp>
        <p:nvSpPr>
          <p:cNvPr id="5" name="Subtitle"/>
          <p:cNvSpPr txBox="1"/>
          <p:nvPr/>
        </p:nvSpPr>
        <p:spPr>
          <a:xfrm>
            <a:off x="750000" y="1220000"/>
            <a:ext cx="1070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2500" b="0">
                <a:solidFill>
                  <a:srgbClr val="374151"/>
                </a:solidFill>
              </a:rPr>
              <a:t>How this repository compares with Microsoft-native and community Fabric automation tools</a:t>
            </a:r>
            <a:endParaRPr lang="en-GB"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000" b="0">
                <a:solidFill>
                  <a:srgbClr val="1F2937"/>
                </a:solidFill>
              </a:rPr>
              <a:t/>
            </a:r>
            <a:endParaRPr lang="en-GB" sz="1000"/>
          </a:p>
        </p:txBody>
      </p:sp>
      <p:sp>
        <p:nvSpPr>
          <p:cNvPr id="3" name="Kicker"/>
          <p:cNvSpPr txBox="1"/>
          <p:nvPr/>
        </p:nvSpPr>
        <p:spPr>
          <a:xfrm>
            <a:off x="620000" y="160000"/>
            <a:ext cx="6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200" b="1">
                <a:solidFill>
                  <a:srgbClr val="93C5FD"/>
                </a:solidFill>
              </a:rPr>
              <a:t>POSITIONING</a:t>
            </a:r>
            <a:endParaRPr lang="en-GB" sz="1200"/>
          </a:p>
        </p:txBody>
      </p:sp>
      <p:sp>
        <p:nvSpPr>
          <p:cNvPr id="4" name="Title"/>
          <p:cNvSpPr txBox="1"/>
          <p:nvPr/>
        </p:nvSpPr>
        <p:spPr>
          <a:xfrm>
            <a:off x="610000" y="29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2600" b="1">
                <a:solidFill>
                  <a:srgbClr val="FFFFFF"/>
                </a:solidFill>
              </a:rPr>
              <a:t>What This Toolkit Is</a:t>
            </a:r>
            <a:endParaRPr lang="en-GB" sz="2600"/>
          </a:p>
        </p:txBody>
      </p:sp>
      <p:sp>
        <p:nvSpPr>
          <p:cNvPr id="5" name="Bullets"/>
          <p:cNvSpPr txBox="1"/>
          <p:nvPr/>
        </p:nvSpPr>
        <p:spPr>
          <a:xfrm>
            <a:off x="850000" y="1450000"/>
            <a:ext cx="10600000" cy="41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457200" indent="-228600">
              <a:buChar char="•"/>
            </a:pPr>
            <a:r>
              <a:rPr lang="en-GB" sz="2150" b="0">
                <a:solidFill>
                  <a:srgbClr val="1F2937"/>
                </a:solidFill>
              </a:rPr>
              <a:t>An opinionated DataOps orchestration layer for Microsoft Fabric.</a:t>
            </a:r>
            <a:endParaRPr lang="en-GB" sz="2150"/>
          </a:p>
          <a:p>
            <a:pPr marL="457200" indent="-228600">
              <a:buChar char="•"/>
            </a:pPr>
            <a:r>
              <a:rPr lang="en-GB" sz="2150" b="0">
                <a:solidFill>
                  <a:srgbClr val="1F2937"/>
                </a:solidFill>
              </a:rPr>
              <a:t>Wraps REST APIs, fabric-cicd, CLI/SDK tooling, CI/CD templates, governance checks, and runbooks.</a:t>
            </a:r>
            <a:endParaRPr lang="en-GB" sz="2150"/>
          </a:p>
          <a:p>
            <a:pPr marL="457200" indent="-228600">
              <a:buChar char="•"/>
            </a:pPr>
            <a:r>
              <a:rPr lang="en-GB" sz="2150" b="0">
                <a:solidFill>
                  <a:srgbClr val="1F2937"/>
                </a:solidFill>
              </a:rPr>
              <a:t>Best understood as a programmatic operating model, not a replacement for Microsoft Fabric.</a:t>
            </a:r>
            <a:endParaRPr lang="en-GB" sz="21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000" b="0">
                <a:solidFill>
                  <a:srgbClr val="1F2937"/>
                </a:solidFill>
              </a:rPr>
              <a:t/>
            </a:r>
            <a:endParaRPr lang="en-GB" sz="1000"/>
          </a:p>
        </p:txBody>
      </p:sp>
      <p:sp>
        <p:nvSpPr>
          <p:cNvPr id="3" name="Kicker"/>
          <p:cNvSpPr txBox="1"/>
          <p:nvPr/>
        </p:nvSpPr>
        <p:spPr>
          <a:xfrm>
            <a:off x="620000" y="160000"/>
            <a:ext cx="6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200" b="1">
                <a:solidFill>
                  <a:srgbClr val="93C5FD"/>
                </a:solidFill>
              </a:rPr>
              <a:t>LANDSCAPE</a:t>
            </a:r>
            <a:endParaRPr lang="en-GB" sz="1200"/>
          </a:p>
        </p:txBody>
      </p:sp>
      <p:sp>
        <p:nvSpPr>
          <p:cNvPr id="4" name="Title"/>
          <p:cNvSpPr txBox="1"/>
          <p:nvPr/>
        </p:nvSpPr>
        <p:spPr>
          <a:xfrm>
            <a:off x="610000" y="29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2600" b="1">
                <a:solidFill>
                  <a:srgbClr val="FFFFFF"/>
                </a:solidFill>
              </a:rPr>
              <a:t>Competitive Landscape</a:t>
            </a:r>
            <a:endParaRPr lang="en-GB" sz="2600"/>
          </a:p>
        </p:txBody>
      </p:sp>
      <p:sp>
        <p:nvSpPr>
          <p:cNvPr id="5" name="Column 1 box"/>
          <p:cNvSpPr txBox="1"/>
          <p:nvPr/>
        </p:nvSpPr>
        <p:spPr>
          <a:xfrm>
            <a:off x="760000" y="1450000"/>
            <a:ext cx="5100000" cy="430000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000" b="0">
                <a:solidFill>
                  <a:srgbClr val="1F2937"/>
                </a:solidFill>
              </a:rPr>
              <a:t/>
            </a:r>
            <a:endParaRPr lang="en-GB" sz="1000"/>
          </a:p>
        </p:txBody>
      </p:sp>
      <p:sp>
        <p:nvSpPr>
          <p:cNvPr id="6" name="Column 1 text"/>
          <p:cNvSpPr txBox="1"/>
          <p:nvPr/>
        </p:nvSpPr>
        <p:spPr>
          <a:xfrm>
            <a:off x="980000" y="1660000"/>
            <a:ext cx="4660000" cy="38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2100" b="1">
                <a:solidFill>
                  <a:srgbClr val="0F172A"/>
                </a:solidFill>
              </a:rPr>
              <a:t>Microsoft-native tools</a:t>
            </a:r>
            <a:endParaRPr lang="en-GB" sz="21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Fabric UI</a:t>
            </a:r>
            <a:endParaRPr lang="en-GB" sz="17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Fabric REST APIs</a:t>
            </a:r>
            <a:endParaRPr lang="en-GB" sz="17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Fabric CLI</a:t>
            </a:r>
            <a:endParaRPr lang="en-GB" sz="17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Git integration</a:t>
            </a:r>
            <a:endParaRPr lang="en-GB" sz="17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Deployment pipelines</a:t>
            </a:r>
            <a:endParaRPr lang="en-GB" sz="17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Azure DevOps / GitHub Actions templates</a:t>
            </a:r>
            <a:endParaRPr lang="en-GB" sz="1700"/>
          </a:p>
        </p:txBody>
      </p:sp>
      <p:sp>
        <p:nvSpPr>
          <p:cNvPr id="7" name="Column 2 box"/>
          <p:cNvSpPr txBox="1"/>
          <p:nvPr/>
        </p:nvSpPr>
        <p:spPr>
          <a:xfrm>
            <a:off x="6340000" y="1450000"/>
            <a:ext cx="5100000" cy="430000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000" b="0">
                <a:solidFill>
                  <a:srgbClr val="1F2937"/>
                </a:solidFill>
              </a:rPr>
              <a:t/>
            </a:r>
            <a:endParaRPr lang="en-GB" sz="1000"/>
          </a:p>
        </p:txBody>
      </p:sp>
      <p:sp>
        <p:nvSpPr>
          <p:cNvPr id="8" name="Column 2 text"/>
          <p:cNvSpPr txBox="1"/>
          <p:nvPr/>
        </p:nvSpPr>
        <p:spPr>
          <a:xfrm>
            <a:off x="6560000" y="1660000"/>
            <a:ext cx="4660000" cy="38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2100" b="1">
                <a:solidFill>
                  <a:srgbClr val="0F172A"/>
                </a:solidFill>
              </a:rPr>
              <a:t>Community / ecosystem tools</a:t>
            </a:r>
            <a:endParaRPr lang="en-GB" sz="21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fabric-cicd</a:t>
            </a:r>
            <a:endParaRPr lang="en-GB" sz="17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semantic-link-labs</a:t>
            </a:r>
            <a:endParaRPr lang="en-GB" sz="17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Terraform-style Fabric providers</a:t>
            </a:r>
            <a:endParaRPr lang="en-GB" sz="17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Custom REST/PowerShell/Python scripts</a:t>
            </a:r>
            <a:endParaRPr lang="en-GB" sz="17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Notebook and semantic model utilities</a:t>
            </a:r>
            <a:endParaRPr lang="en-GB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000" b="0">
                <a:solidFill>
                  <a:srgbClr val="1F2937"/>
                </a:solidFill>
              </a:rPr>
              <a:t/>
            </a:r>
            <a:endParaRPr lang="en-GB" sz="1000"/>
          </a:p>
        </p:txBody>
      </p:sp>
      <p:sp>
        <p:nvSpPr>
          <p:cNvPr id="3" name="Kicker"/>
          <p:cNvSpPr txBox="1"/>
          <p:nvPr/>
        </p:nvSpPr>
        <p:spPr>
          <a:xfrm>
            <a:off x="620000" y="160000"/>
            <a:ext cx="6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200" b="1">
                <a:solidFill>
                  <a:srgbClr val="93C5FD"/>
                </a:solidFill>
              </a:rPr>
              <a:t>MICROSOFT</a:t>
            </a:r>
            <a:endParaRPr lang="en-GB" sz="1200"/>
          </a:p>
        </p:txBody>
      </p:sp>
      <p:sp>
        <p:nvSpPr>
          <p:cNvPr id="4" name="Title"/>
          <p:cNvSpPr txBox="1"/>
          <p:nvPr/>
        </p:nvSpPr>
        <p:spPr>
          <a:xfrm>
            <a:off x="610000" y="29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2600" b="1">
                <a:solidFill>
                  <a:srgbClr val="FFFFFF"/>
                </a:solidFill>
              </a:rPr>
              <a:t>Compared With Microsoft Fabric Native Tooling</a:t>
            </a:r>
            <a:endParaRPr lang="en-GB" sz="2600"/>
          </a:p>
        </p:txBody>
      </p:sp>
      <p:sp>
        <p:nvSpPr>
          <p:cNvPr id="5" name="Bullets"/>
          <p:cNvSpPr txBox="1"/>
          <p:nvPr/>
        </p:nvSpPr>
        <p:spPr>
          <a:xfrm>
            <a:off x="850000" y="1450000"/>
            <a:ext cx="10600000" cy="41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457200" indent="-228600">
              <a:buChar char="•"/>
            </a:pPr>
            <a:r>
              <a:rPr lang="en-GB" sz="2150" b="0">
                <a:solidFill>
                  <a:srgbClr val="1F2937"/>
                </a:solidFill>
              </a:rPr>
              <a:t>Microsoft tools provide the product surfaces and source-of-truth APIs.</a:t>
            </a:r>
            <a:endParaRPr lang="en-GB" sz="2150"/>
          </a:p>
          <a:p>
            <a:pPr marL="457200" indent="-228600">
              <a:buChar char="•"/>
            </a:pPr>
            <a:r>
              <a:rPr lang="en-GB" sz="2150" b="0">
                <a:solidFill>
                  <a:srgbClr val="1F2937"/>
                </a:solidFill>
              </a:rPr>
              <a:t>This toolkit adds external orchestration, governance, audit, test gates, release records, and tenant-specific policy.</a:t>
            </a:r>
            <a:endParaRPr lang="en-GB" sz="2150"/>
          </a:p>
          <a:p>
            <a:pPr marL="457200" indent="-228600">
              <a:buChar char="•"/>
            </a:pPr>
            <a:r>
              <a:rPr lang="en-GB" sz="2150" b="0">
                <a:solidFill>
                  <a:srgbClr val="1F2937"/>
                </a:solidFill>
              </a:rPr>
              <a:t>Microsoft-native tools are simpler and officially supported; this toolkit is stronger for governed enterprise workflows.</a:t>
            </a:r>
            <a:endParaRPr lang="en-GB" sz="21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000" b="0">
                <a:solidFill>
                  <a:srgbClr val="1F2937"/>
                </a:solidFill>
              </a:rPr>
              <a:t/>
            </a:r>
            <a:endParaRPr lang="en-GB" sz="1000"/>
          </a:p>
        </p:txBody>
      </p:sp>
      <p:sp>
        <p:nvSpPr>
          <p:cNvPr id="3" name="Kicker"/>
          <p:cNvSpPr txBox="1"/>
          <p:nvPr/>
        </p:nvSpPr>
        <p:spPr>
          <a:xfrm>
            <a:off x="620000" y="160000"/>
            <a:ext cx="6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200" b="1">
                <a:solidFill>
                  <a:srgbClr val="93C5FD"/>
                </a:solidFill>
              </a:rPr>
              <a:t>DEPLOYMENT AUTOMATION</a:t>
            </a:r>
            <a:endParaRPr lang="en-GB" sz="1200"/>
          </a:p>
        </p:txBody>
      </p:sp>
      <p:sp>
        <p:nvSpPr>
          <p:cNvPr id="4" name="Title"/>
          <p:cNvSpPr txBox="1"/>
          <p:nvPr/>
        </p:nvSpPr>
        <p:spPr>
          <a:xfrm>
            <a:off x="610000" y="29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2600" b="1">
                <a:solidFill>
                  <a:srgbClr val="FFFFFF"/>
                </a:solidFill>
              </a:rPr>
              <a:t>Compared With fabric-cicd, CLI, and REST APIs</a:t>
            </a:r>
            <a:endParaRPr lang="en-GB" sz="2600"/>
          </a:p>
        </p:txBody>
      </p:sp>
      <p:sp>
        <p:nvSpPr>
          <p:cNvPr id="5" name="Column 1 box"/>
          <p:cNvSpPr txBox="1"/>
          <p:nvPr/>
        </p:nvSpPr>
        <p:spPr>
          <a:xfrm>
            <a:off x="760000" y="1450000"/>
            <a:ext cx="5100000" cy="430000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000" b="0">
                <a:solidFill>
                  <a:srgbClr val="1F2937"/>
                </a:solidFill>
              </a:rPr>
              <a:t/>
            </a:r>
            <a:endParaRPr lang="en-GB" sz="1000"/>
          </a:p>
        </p:txBody>
      </p:sp>
      <p:sp>
        <p:nvSpPr>
          <p:cNvPr id="6" name="Column 1 text"/>
          <p:cNvSpPr txBox="1"/>
          <p:nvPr/>
        </p:nvSpPr>
        <p:spPr>
          <a:xfrm>
            <a:off x="980000" y="1660000"/>
            <a:ext cx="4660000" cy="38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2100" b="1">
                <a:solidFill>
                  <a:srgbClr val="0F172A"/>
                </a:solidFill>
              </a:rPr>
              <a:t>fabric-cicd / CLI / REST</a:t>
            </a:r>
            <a:endParaRPr lang="en-GB" sz="21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Focused deployment or low-level automation</a:t>
            </a:r>
            <a:endParaRPr lang="en-GB" sz="17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Excellent building blocks</a:t>
            </a:r>
            <a:endParaRPr lang="en-GB" sz="17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Less opinionated about enterprise process</a:t>
            </a:r>
            <a:endParaRPr lang="en-GB" sz="1700"/>
          </a:p>
        </p:txBody>
      </p:sp>
      <p:sp>
        <p:nvSpPr>
          <p:cNvPr id="7" name="Column 2 box"/>
          <p:cNvSpPr txBox="1"/>
          <p:nvPr/>
        </p:nvSpPr>
        <p:spPr>
          <a:xfrm>
            <a:off x="6340000" y="1450000"/>
            <a:ext cx="5100000" cy="430000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000" b="0">
                <a:solidFill>
                  <a:srgbClr val="1F2937"/>
                </a:solidFill>
              </a:rPr>
              <a:t/>
            </a:r>
            <a:endParaRPr lang="en-GB" sz="1000"/>
          </a:p>
        </p:txBody>
      </p:sp>
      <p:sp>
        <p:nvSpPr>
          <p:cNvPr id="8" name="Column 2 text"/>
          <p:cNvSpPr txBox="1"/>
          <p:nvPr/>
        </p:nvSpPr>
        <p:spPr>
          <a:xfrm>
            <a:off x="6560000" y="1660000"/>
            <a:ext cx="4660000" cy="38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2100" b="1">
                <a:solidFill>
                  <a:srgbClr val="0F172A"/>
                </a:solidFill>
              </a:rPr>
              <a:t>This toolkit</a:t>
            </a:r>
            <a:endParaRPr lang="en-GB" sz="21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Coordinates those tools into an end-to-end lifecycle</a:t>
            </a:r>
            <a:endParaRPr lang="en-GB" sz="17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Adds approvals, DQ gates, audit, rollback, traceability, and drift checks</a:t>
            </a:r>
            <a:endParaRPr lang="en-GB" sz="17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Treats deployment as one step in a governed workflow</a:t>
            </a:r>
            <a:endParaRPr lang="en-GB"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000" b="0">
                <a:solidFill>
                  <a:srgbClr val="1F2937"/>
                </a:solidFill>
              </a:rPr>
              <a:t/>
            </a:r>
            <a:endParaRPr lang="en-GB" sz="1000"/>
          </a:p>
        </p:txBody>
      </p:sp>
      <p:sp>
        <p:nvSpPr>
          <p:cNvPr id="3" name="Kicker"/>
          <p:cNvSpPr txBox="1"/>
          <p:nvPr/>
        </p:nvSpPr>
        <p:spPr>
          <a:xfrm>
            <a:off x="620000" y="160000"/>
            <a:ext cx="6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200" b="1">
                <a:solidFill>
                  <a:srgbClr val="93C5FD"/>
                </a:solidFill>
              </a:rPr>
              <a:t>INFRASTRUCTURE AS CODE</a:t>
            </a:r>
            <a:endParaRPr lang="en-GB" sz="1200"/>
          </a:p>
        </p:txBody>
      </p:sp>
      <p:sp>
        <p:nvSpPr>
          <p:cNvPr id="4" name="Title"/>
          <p:cNvSpPr txBox="1"/>
          <p:nvPr/>
        </p:nvSpPr>
        <p:spPr>
          <a:xfrm>
            <a:off x="610000" y="29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2600" b="1">
                <a:solidFill>
                  <a:srgbClr val="FFFFFF"/>
                </a:solidFill>
              </a:rPr>
              <a:t>Compared With Terraform / IaC</a:t>
            </a:r>
            <a:endParaRPr lang="en-GB" sz="2600"/>
          </a:p>
        </p:txBody>
      </p:sp>
      <p:sp>
        <p:nvSpPr>
          <p:cNvPr id="5" name="Column 1 box"/>
          <p:cNvSpPr txBox="1"/>
          <p:nvPr/>
        </p:nvSpPr>
        <p:spPr>
          <a:xfrm>
            <a:off x="760000" y="1450000"/>
            <a:ext cx="5100000" cy="430000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000" b="0">
                <a:solidFill>
                  <a:srgbClr val="1F2937"/>
                </a:solidFill>
              </a:rPr>
              <a:t/>
            </a:r>
            <a:endParaRPr lang="en-GB" sz="1000"/>
          </a:p>
        </p:txBody>
      </p:sp>
      <p:sp>
        <p:nvSpPr>
          <p:cNvPr id="6" name="Column 1 text"/>
          <p:cNvSpPr txBox="1"/>
          <p:nvPr/>
        </p:nvSpPr>
        <p:spPr>
          <a:xfrm>
            <a:off x="980000" y="1660000"/>
            <a:ext cx="4660000" cy="38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2100" b="1">
                <a:solidFill>
                  <a:srgbClr val="0F172A"/>
                </a:solidFill>
              </a:rPr>
              <a:t>Terraform / Bicep</a:t>
            </a:r>
            <a:endParaRPr lang="en-GB" sz="21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Best for declarative provisioning</a:t>
            </a:r>
            <a:endParaRPr lang="en-GB" sz="17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Strong for resources, state, and repeatability</a:t>
            </a:r>
            <a:endParaRPr lang="en-GB" sz="17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Answers: what infrastructure should exist?</a:t>
            </a:r>
            <a:endParaRPr lang="en-GB" sz="1700"/>
          </a:p>
        </p:txBody>
      </p:sp>
      <p:sp>
        <p:nvSpPr>
          <p:cNvPr id="7" name="Column 2 box"/>
          <p:cNvSpPr txBox="1"/>
          <p:nvPr/>
        </p:nvSpPr>
        <p:spPr>
          <a:xfrm>
            <a:off x="6340000" y="1450000"/>
            <a:ext cx="5100000" cy="430000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000" b="0">
                <a:solidFill>
                  <a:srgbClr val="1F2937"/>
                </a:solidFill>
              </a:rPr>
              <a:t/>
            </a:r>
            <a:endParaRPr lang="en-GB" sz="1000"/>
          </a:p>
        </p:txBody>
      </p:sp>
      <p:sp>
        <p:nvSpPr>
          <p:cNvPr id="8" name="Column 2 text"/>
          <p:cNvSpPr txBox="1"/>
          <p:nvPr/>
        </p:nvSpPr>
        <p:spPr>
          <a:xfrm>
            <a:off x="6560000" y="1660000"/>
            <a:ext cx="4660000" cy="38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2100" b="1">
                <a:solidFill>
                  <a:srgbClr val="0F172A"/>
                </a:solidFill>
              </a:rPr>
              <a:t>This toolkit</a:t>
            </a:r>
            <a:endParaRPr lang="en-GB" sz="21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Best for DataOps workflow and control plane operations</a:t>
            </a:r>
            <a:endParaRPr lang="en-GB" sz="17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Strong for validation, release, audit, runbooks, sync, and drift</a:t>
            </a:r>
            <a:endParaRPr lang="en-GB" sz="17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Answers: how do we safely operate Fabric changes?</a:t>
            </a:r>
            <a:endParaRPr lang="en-GB"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000" b="0">
                <a:solidFill>
                  <a:srgbClr val="1F2937"/>
                </a:solidFill>
              </a:rPr>
              <a:t/>
            </a:r>
            <a:endParaRPr lang="en-GB" sz="1000"/>
          </a:p>
        </p:txBody>
      </p:sp>
      <p:sp>
        <p:nvSpPr>
          <p:cNvPr id="3" name="Kicker"/>
          <p:cNvSpPr txBox="1"/>
          <p:nvPr/>
        </p:nvSpPr>
        <p:spPr>
          <a:xfrm>
            <a:off x="620000" y="160000"/>
            <a:ext cx="6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200" b="1">
                <a:solidFill>
                  <a:srgbClr val="93C5FD"/>
                </a:solidFill>
              </a:rPr>
              <a:t>DEVELOPER EXPERIENCE</a:t>
            </a:r>
            <a:endParaRPr lang="en-GB" sz="1200"/>
          </a:p>
        </p:txBody>
      </p:sp>
      <p:sp>
        <p:nvSpPr>
          <p:cNvPr id="4" name="Title"/>
          <p:cNvSpPr txBox="1"/>
          <p:nvPr/>
        </p:nvSpPr>
        <p:spPr>
          <a:xfrm>
            <a:off x="610000" y="29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2600" b="1">
                <a:solidFill>
                  <a:srgbClr val="FFFFFF"/>
                </a:solidFill>
              </a:rPr>
              <a:t>Compared With Semantic Link and Notebook Utilities</a:t>
            </a:r>
            <a:endParaRPr lang="en-GB" sz="2600"/>
          </a:p>
        </p:txBody>
      </p:sp>
      <p:sp>
        <p:nvSpPr>
          <p:cNvPr id="5" name="Bullets"/>
          <p:cNvSpPr txBox="1"/>
          <p:nvPr/>
        </p:nvSpPr>
        <p:spPr>
          <a:xfrm>
            <a:off x="850000" y="1450000"/>
            <a:ext cx="10600000" cy="41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457200" indent="-228600">
              <a:buChar char="•"/>
            </a:pPr>
            <a:r>
              <a:rPr lang="en-GB" sz="2150" b="0">
                <a:solidFill>
                  <a:srgbClr val="1F2937"/>
                </a:solidFill>
              </a:rPr>
              <a:t>Semantic Link and notebook tools are closer to data-science, semantic-model, and in-Fabric authoring workflows.</a:t>
            </a:r>
            <a:endParaRPr lang="en-GB" sz="2150"/>
          </a:p>
          <a:p>
            <a:pPr marL="457200" indent="-228600">
              <a:buChar char="•"/>
            </a:pPr>
            <a:r>
              <a:rPr lang="en-GB" sz="2150" b="0">
                <a:solidFill>
                  <a:srgbClr val="1F2937"/>
                </a:solidFill>
              </a:rPr>
              <a:t>This toolkit is more platform-engineering and control-plane focused.</a:t>
            </a:r>
            <a:endParaRPr lang="en-GB" sz="2150"/>
          </a:p>
          <a:p>
            <a:pPr marL="457200" indent="-228600">
              <a:buChar char="•"/>
            </a:pPr>
            <a:r>
              <a:rPr lang="en-GB" sz="2150" b="0">
                <a:solidFill>
                  <a:srgbClr val="1F2937"/>
                </a:solidFill>
              </a:rPr>
              <a:t>They are complementary: notebook utilities help inside Fabric; this toolkit governs from CI/CD and automation contexts.</a:t>
            </a:r>
            <a:endParaRPr lang="en-GB" sz="21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000" b="0">
                <a:solidFill>
                  <a:srgbClr val="1F2937"/>
                </a:solidFill>
              </a:rPr>
              <a:t/>
            </a:r>
            <a:endParaRPr lang="en-GB" sz="1000"/>
          </a:p>
        </p:txBody>
      </p:sp>
      <p:sp>
        <p:nvSpPr>
          <p:cNvPr id="3" name="Kicker"/>
          <p:cNvSpPr txBox="1"/>
          <p:nvPr/>
        </p:nvSpPr>
        <p:spPr>
          <a:xfrm>
            <a:off x="620000" y="160000"/>
            <a:ext cx="6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200" b="1">
                <a:solidFill>
                  <a:srgbClr val="93C5FD"/>
                </a:solidFill>
              </a:rPr>
              <a:t>DIFFERENTIATORS</a:t>
            </a:r>
            <a:endParaRPr lang="en-GB" sz="1200"/>
          </a:p>
        </p:txBody>
      </p:sp>
      <p:sp>
        <p:nvSpPr>
          <p:cNvPr id="4" name="Title"/>
          <p:cNvSpPr txBox="1"/>
          <p:nvPr/>
        </p:nvSpPr>
        <p:spPr>
          <a:xfrm>
            <a:off x="610000" y="29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2600" b="1">
                <a:solidFill>
                  <a:srgbClr val="FFFFFF"/>
                </a:solidFill>
              </a:rPr>
              <a:t>Where This Toolkit Is Stronger</a:t>
            </a:r>
            <a:endParaRPr lang="en-GB" sz="2600"/>
          </a:p>
        </p:txBody>
      </p:sp>
      <p:sp>
        <p:nvSpPr>
          <p:cNvPr id="5" name="Bullets"/>
          <p:cNvSpPr txBox="1"/>
          <p:nvPr/>
        </p:nvSpPr>
        <p:spPr>
          <a:xfrm>
            <a:off x="850000" y="1450000"/>
            <a:ext cx="10600000" cy="41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457200" indent="-228600">
              <a:buChar char="•"/>
            </a:pPr>
            <a:r>
              <a:rPr lang="en-GB" sz="2150" b="0">
                <a:solidFill>
                  <a:srgbClr val="1F2937"/>
                </a:solidFill>
              </a:rPr>
              <a:t>End-to-end deployment lifecycle rather than deployment-only automation.</a:t>
            </a:r>
            <a:endParaRPr lang="en-GB" sz="2150"/>
          </a:p>
          <a:p>
            <a:pPr marL="457200" indent="-228600">
              <a:buChar char="•"/>
            </a:pPr>
            <a:r>
              <a:rPr lang="en-GB" sz="2150" b="0">
                <a:solidFill>
                  <a:srgbClr val="1F2937"/>
                </a:solidFill>
              </a:rPr>
              <a:t>Tenant-specific plugin architecture for auth, DQ, telemetry, runbooks, capacity policy, and work items.</a:t>
            </a:r>
            <a:endParaRPr lang="en-GB" sz="2150"/>
          </a:p>
          <a:p>
            <a:pPr marL="457200" indent="-228600">
              <a:buChar char="•"/>
            </a:pPr>
            <a:r>
              <a:rPr lang="en-GB" sz="2150" b="0">
                <a:solidFill>
                  <a:srgbClr val="1F2937"/>
                </a:solidFill>
              </a:rPr>
              <a:t>Dual Azure DevOps and GitHub Actions support with parity checks.</a:t>
            </a:r>
            <a:endParaRPr lang="en-GB" sz="2150"/>
          </a:p>
          <a:p>
            <a:pPr marL="457200" indent="-228600">
              <a:buChar char="•"/>
            </a:pPr>
            <a:r>
              <a:rPr lang="en-GB" sz="2150" b="0">
                <a:solidFill>
                  <a:srgbClr val="1F2937"/>
                </a:solidFill>
              </a:rPr>
              <a:t>Governance-first features: audit, RBAC checks, labels, runbook URLs, destructive-operation safeguards.</a:t>
            </a:r>
            <a:endParaRPr lang="en-GB" sz="2150"/>
          </a:p>
          <a:p>
            <a:pPr marL="457200" indent="-228600">
              <a:buChar char="•"/>
            </a:pPr>
            <a:r>
              <a:rPr lang="en-GB" sz="2150" b="0">
                <a:solidFill>
                  <a:srgbClr val="1F2937"/>
                </a:solidFill>
              </a:rPr>
              <a:t>Sync, snapshot, diff, rollback, and drift detection workflows.</a:t>
            </a:r>
            <a:endParaRPr lang="en-GB" sz="21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000" b="0">
                <a:solidFill>
                  <a:srgbClr val="1F2937"/>
                </a:solidFill>
              </a:rPr>
              <a:t/>
            </a:r>
            <a:endParaRPr lang="en-GB" sz="1000"/>
          </a:p>
        </p:txBody>
      </p:sp>
      <p:sp>
        <p:nvSpPr>
          <p:cNvPr id="3" name="Kicker"/>
          <p:cNvSpPr txBox="1"/>
          <p:nvPr/>
        </p:nvSpPr>
        <p:spPr>
          <a:xfrm>
            <a:off x="620000" y="160000"/>
            <a:ext cx="6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200" b="1">
                <a:solidFill>
                  <a:srgbClr val="93C5FD"/>
                </a:solidFill>
              </a:rPr>
              <a:t>RISKS</a:t>
            </a:r>
            <a:endParaRPr lang="en-GB" sz="1200"/>
          </a:p>
        </p:txBody>
      </p:sp>
      <p:sp>
        <p:nvSpPr>
          <p:cNvPr id="4" name="Title"/>
          <p:cNvSpPr txBox="1"/>
          <p:nvPr/>
        </p:nvSpPr>
        <p:spPr>
          <a:xfrm>
            <a:off x="610000" y="29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2600" b="1">
                <a:solidFill>
                  <a:srgbClr val="FFFFFF"/>
                </a:solidFill>
              </a:rPr>
              <a:t>Tradeoffs and Risks</a:t>
            </a:r>
            <a:endParaRPr lang="en-GB" sz="2600"/>
          </a:p>
        </p:txBody>
      </p:sp>
      <p:sp>
        <p:nvSpPr>
          <p:cNvPr id="5" name="Bullets"/>
          <p:cNvSpPr txBox="1"/>
          <p:nvPr/>
        </p:nvSpPr>
        <p:spPr>
          <a:xfrm>
            <a:off x="850000" y="1450000"/>
            <a:ext cx="10600000" cy="41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457200" indent="-228600">
              <a:buChar char="•"/>
            </a:pPr>
            <a:r>
              <a:rPr lang="en-GB" sz="2150" b="0">
                <a:solidFill>
                  <a:srgbClr val="1F2937"/>
                </a:solidFill>
              </a:rPr>
              <a:t>More powerful, but heavier to adopt than native Fabric UI or a small deployment script.</a:t>
            </a:r>
            <a:endParaRPr lang="en-GB" sz="2150"/>
          </a:p>
          <a:p>
            <a:pPr marL="457200" indent="-228600">
              <a:buChar char="•"/>
            </a:pPr>
            <a:r>
              <a:rPr lang="en-GB" sz="2150" b="0">
                <a:solidFill>
                  <a:srgbClr val="1F2937"/>
                </a:solidFill>
              </a:rPr>
              <a:t>Depends on Microsoft Fabric APIs and ecosystem packages that may change over time.</a:t>
            </a:r>
            <a:endParaRPr lang="en-GB" sz="2150"/>
          </a:p>
          <a:p>
            <a:pPr marL="457200" indent="-228600">
              <a:buChar char="•"/>
            </a:pPr>
            <a:r>
              <a:rPr lang="en-GB" sz="2150" b="0">
                <a:solidFill>
                  <a:srgbClr val="1F2937"/>
                </a:solidFill>
              </a:rPr>
              <a:t>Requires teams to adopt repo conventions, configuration, CI/CD templates, and plugin contracts.</a:t>
            </a:r>
            <a:endParaRPr lang="en-GB" sz="2150"/>
          </a:p>
          <a:p>
            <a:pPr marL="457200" indent="-228600">
              <a:buChar char="•"/>
            </a:pPr>
            <a:r>
              <a:rPr lang="en-GB" sz="2150" b="0">
                <a:solidFill>
                  <a:srgbClr val="1F2937"/>
                </a:solidFill>
              </a:rPr>
              <a:t>Mocked test coverage is strong, but live-tenant validation remains the critical proof point.</a:t>
            </a:r>
            <a:endParaRPr lang="en-GB" sz="21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000" b="0">
                <a:solidFill>
                  <a:srgbClr val="1F2937"/>
                </a:solidFill>
              </a:rPr>
              <a:t/>
            </a:r>
            <a:endParaRPr lang="en-GB" sz="1000"/>
          </a:p>
        </p:txBody>
      </p:sp>
      <p:sp>
        <p:nvSpPr>
          <p:cNvPr id="3" name="Kicker"/>
          <p:cNvSpPr txBox="1"/>
          <p:nvPr/>
        </p:nvSpPr>
        <p:spPr>
          <a:xfrm>
            <a:off x="620000" y="160000"/>
            <a:ext cx="6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200" b="1">
                <a:solidFill>
                  <a:srgbClr val="93C5FD"/>
                </a:solidFill>
              </a:rPr>
              <a:t>MESSAGE</a:t>
            </a:r>
            <a:endParaRPr lang="en-GB" sz="1200"/>
          </a:p>
        </p:txBody>
      </p:sp>
      <p:sp>
        <p:nvSpPr>
          <p:cNvPr id="4" name="Title"/>
          <p:cNvSpPr txBox="1"/>
          <p:nvPr/>
        </p:nvSpPr>
        <p:spPr>
          <a:xfrm>
            <a:off x="610000" y="29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2600" b="1">
                <a:solidFill>
                  <a:srgbClr val="FFFFFF"/>
                </a:solidFill>
              </a:rPr>
              <a:t>Recommended Positioning</a:t>
            </a:r>
            <a:endParaRPr lang="en-GB" sz="2600"/>
          </a:p>
        </p:txBody>
      </p:sp>
      <p:sp>
        <p:nvSpPr>
          <p:cNvPr id="5" name="Subtitle"/>
          <p:cNvSpPr txBox="1"/>
          <p:nvPr/>
        </p:nvSpPr>
        <p:spPr>
          <a:xfrm>
            <a:off x="750000" y="1220000"/>
            <a:ext cx="1070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2500" b="0">
                <a:solidFill>
                  <a:srgbClr val="374151"/>
                </a:solidFill>
              </a:rPr>
              <a:t>A higher-level Microsoft Fabric DataOps platform toolkit that wraps Microsoft and community automation tools into a governed, testable, CI/CD-ready operating model.</a:t>
            </a:r>
            <a:endParaRPr lang="en-GB" sz="2500"/>
          </a:p>
        </p:txBody>
      </p:sp>
      <p:sp>
        <p:nvSpPr>
          <p:cNvPr id="6" name="Bullets"/>
          <p:cNvSpPr txBox="1"/>
          <p:nvPr/>
        </p:nvSpPr>
        <p:spPr>
          <a:xfrm>
            <a:off x="850000" y="2150000"/>
            <a:ext cx="10600000" cy="41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457200" indent="-228600">
              <a:buChar char="•"/>
            </a:pPr>
            <a:r>
              <a:rPr lang="en-GB" sz="2150" b="0">
                <a:solidFill>
                  <a:srgbClr val="1F2937"/>
                </a:solidFill>
              </a:rPr>
              <a:t>Not a replacement for Fabric REST APIs, CLI, Git integration, deployment pipelines, fabric-cicd, Terraform, or Bicep.</a:t>
            </a:r>
            <a:endParaRPr lang="en-GB" sz="2150"/>
          </a:p>
          <a:p>
            <a:pPr marL="457200" indent="-228600">
              <a:buChar char="•"/>
            </a:pPr>
            <a:r>
              <a:rPr lang="en-GB" sz="2150" b="0">
                <a:solidFill>
                  <a:srgbClr val="1F2937"/>
                </a:solidFill>
              </a:rPr>
              <a:t>A coordination layer that makes those tools usable as part of a repeatable enterprise operating process.</a:t>
            </a:r>
            <a:endParaRPr lang="en-GB" sz="21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000" b="0">
                <a:solidFill>
                  <a:srgbClr val="1F2937"/>
                </a:solidFill>
              </a:rPr>
              <a:t/>
            </a:r>
            <a:endParaRPr lang="en-GB" sz="1000"/>
          </a:p>
        </p:txBody>
      </p:sp>
      <p:sp>
        <p:nvSpPr>
          <p:cNvPr id="3" name="Kicker"/>
          <p:cNvSpPr txBox="1"/>
          <p:nvPr/>
        </p:nvSpPr>
        <p:spPr>
          <a:xfrm>
            <a:off x="620000" y="160000"/>
            <a:ext cx="6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200" b="1">
                <a:solidFill>
                  <a:srgbClr val="93C5FD"/>
                </a:solidFill>
              </a:rPr>
              <a:t>DECISION GUIDE</a:t>
            </a:r>
            <a:endParaRPr lang="en-GB" sz="1200"/>
          </a:p>
        </p:txBody>
      </p:sp>
      <p:sp>
        <p:nvSpPr>
          <p:cNvPr id="4" name="Title"/>
          <p:cNvSpPr txBox="1"/>
          <p:nvPr/>
        </p:nvSpPr>
        <p:spPr>
          <a:xfrm>
            <a:off x="610000" y="29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2600" b="1">
                <a:solidFill>
                  <a:srgbClr val="FFFFFF"/>
                </a:solidFill>
              </a:rPr>
              <a:t>When To Use What</a:t>
            </a:r>
            <a:endParaRPr lang="en-GB" sz="2600"/>
          </a:p>
        </p:txBody>
      </p:sp>
      <p:sp>
        <p:nvSpPr>
          <p:cNvPr id="5" name="Column 1 box"/>
          <p:cNvSpPr txBox="1"/>
          <p:nvPr/>
        </p:nvSpPr>
        <p:spPr>
          <a:xfrm>
            <a:off x="760000" y="1450000"/>
            <a:ext cx="5100000" cy="430000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000" b="0">
                <a:solidFill>
                  <a:srgbClr val="1F2937"/>
                </a:solidFill>
              </a:rPr>
              <a:t/>
            </a:r>
            <a:endParaRPr lang="en-GB" sz="1000"/>
          </a:p>
        </p:txBody>
      </p:sp>
      <p:sp>
        <p:nvSpPr>
          <p:cNvPr id="6" name="Column 1 text"/>
          <p:cNvSpPr txBox="1"/>
          <p:nvPr/>
        </p:nvSpPr>
        <p:spPr>
          <a:xfrm>
            <a:off x="980000" y="1660000"/>
            <a:ext cx="4660000" cy="38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2100" b="1">
                <a:solidFill>
                  <a:srgbClr val="0F172A"/>
                </a:solidFill>
              </a:rPr>
              <a:t>Use native / focused tools when...</a:t>
            </a:r>
            <a:endParaRPr lang="en-GB" sz="21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You need simple deployments</a:t>
            </a:r>
            <a:endParaRPr lang="en-GB" sz="17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You prefer product-supported UX</a:t>
            </a:r>
            <a:endParaRPr lang="en-GB" sz="17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You mainly need workspace Git sync</a:t>
            </a:r>
            <a:endParaRPr lang="en-GB" sz="17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You mainly need infrastructure provisioning</a:t>
            </a:r>
            <a:endParaRPr lang="en-GB" sz="1700"/>
          </a:p>
        </p:txBody>
      </p:sp>
      <p:sp>
        <p:nvSpPr>
          <p:cNvPr id="7" name="Column 2 box"/>
          <p:cNvSpPr txBox="1"/>
          <p:nvPr/>
        </p:nvSpPr>
        <p:spPr>
          <a:xfrm>
            <a:off x="6340000" y="1450000"/>
            <a:ext cx="5100000" cy="430000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1000" b="0">
                <a:solidFill>
                  <a:srgbClr val="1F2937"/>
                </a:solidFill>
              </a:rPr>
              <a:t/>
            </a:r>
            <a:endParaRPr lang="en-GB" sz="1000"/>
          </a:p>
        </p:txBody>
      </p:sp>
      <p:sp>
        <p:nvSpPr>
          <p:cNvPr id="8" name="Column 2 text"/>
          <p:cNvSpPr txBox="1"/>
          <p:nvPr/>
        </p:nvSpPr>
        <p:spPr>
          <a:xfrm>
            <a:off x="6560000" y="1660000"/>
            <a:ext cx="4660000" cy="38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GB" sz="2100" b="1">
                <a:solidFill>
                  <a:srgbClr val="0F172A"/>
                </a:solidFill>
              </a:rPr>
              <a:t>Use this toolkit when...</a:t>
            </a:r>
            <a:endParaRPr lang="en-GB" sz="21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You need governed enterprise Fabric deployments</a:t>
            </a:r>
            <a:endParaRPr lang="en-GB" sz="17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You need tests, approvals, audit, rollback, and traceability</a:t>
            </a:r>
            <a:endParaRPr lang="en-GB" sz="17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You need tenant-specific policy seams</a:t>
            </a:r>
            <a:endParaRPr lang="en-GB" sz="1700"/>
          </a:p>
          <a:p>
            <a:pPr marL="457200" indent="-228600">
              <a:buChar char="•"/>
            </a:pPr>
            <a:r>
              <a:rPr lang="en-GB" sz="1700" b="0">
                <a:solidFill>
                  <a:srgbClr val="1F2937"/>
                </a:solidFill>
              </a:rPr>
              <a:t>You need repeatable standards across teams</a:t>
            </a:r>
            <a:endParaRPr lang="en-GB"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antry">
  <a:themeElements>
    <a:clrScheme name="Sigantry">
      <a:dk1>
        <a:srgbClr val="0F172A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8B5CF6"/>
      </a:accent5>
      <a:accent6>
        <a:srgbClr val="EF4444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Default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GitHub Copilot</Application>
  <PresentationFormat>Widescreen</PresentationFormat>
  <Slides>11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Fabric DataOps Toolkit Comparison</dc:title>
  <dc:creator>GitHub Copilot</dc:creator>
  <cp:lastModifiedBy>GitHub Copilot</cp:lastModifiedBy>
  <dcterms:created xsi:type="dcterms:W3CDTF">2026-04-28T22:13:40Z</dcterms:created>
  <dcterms:modified xsi:type="dcterms:W3CDTF">2026-04-28T22:13:40Z</dcterms:modified>
</cp:coreProperties>
</file>